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54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GB" sz="1300" b="0" i="0" u="none" strike="noStrike">
                <a:solidFill>
                  <a:srgbClr val="0D1B2A"/>
                </a:solidFill>
                <a:latin typeface="Arial"/>
              </a:rPr>
              <a:t>Per-agent cost (USD)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(gpt-4o)</c:v>
                </c:pt>
              </c:strCache>
            </c:strRef>
          </c:tx>
          <c:spPr>
            <a:solidFill>
              <a:srgbClr val="0D1B2A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Rejection Pattern</c:v>
                </c:pt>
                <c:pt idx="1">
                  <c:v>Offer Insights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1.92E-3</c:v>
                </c:pt>
                <c:pt idx="1">
                  <c:v>1.8600000000000001E-3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7B-48BD-9782-DC42AEBA012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(gpt-4o-mini)</c:v>
                </c:pt>
              </c:strCache>
            </c:strRef>
          </c:tx>
          <c:spPr>
            <a:solidFill>
              <a:srgbClr val="06D6A0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Rejection Pattern</c:v>
                </c:pt>
                <c:pt idx="1">
                  <c:v>Offer Insights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5.8E-4</c:v>
                </c:pt>
                <c:pt idx="1">
                  <c:v>5.5999999999999995E-4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E7B-48BD-9782-DC42AEBA01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9505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9EC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9505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9505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 w="6350" cap="flat">
      <a:solidFill>
        <a:srgbClr val="E9ECEF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9605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645920"/>
            <a:ext cx="3657600" cy="3657600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430000" y="-457200"/>
            <a:ext cx="2286000" cy="2286000"/>
          </a:xfrm>
          <a:prstGeom prst="ellipse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Hiring Intelligence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3840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multi-agent workflow grounded in RAG, served live via Streamlit.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6035040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1B263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40080" y="60350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0" y="6035040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1B263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828800" y="60350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17520" y="6035040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1B263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017520" y="60350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Pinecone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06240" y="6035040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1B263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206240" y="60350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94960" y="6035040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1B263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394960" y="60350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867009-3823-FEAF-19C2-77033038F077}"/>
              </a:ext>
            </a:extLst>
          </p:cNvPr>
          <p:cNvSpPr txBox="1"/>
          <p:nvPr/>
        </p:nvSpPr>
        <p:spPr>
          <a:xfrm>
            <a:off x="3855500" y="4601477"/>
            <a:ext cx="1539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bg2"/>
                </a:solidFill>
              </a:rPr>
              <a:t>- Viswa Nalam</a:t>
            </a:r>
            <a:endParaRPr lang="en-GB" i="1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data is rich but underused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72800" y="3657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61188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blurRad="1524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914400" y="2103120"/>
            <a:ext cx="822960" cy="82296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↘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inefficiencies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384048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analysis can't keep up with 200+ candidate data points across 8 channels and 10 interviewers.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1645920"/>
            <a:ext cx="361188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blurRad="1524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709160" y="2103120"/>
            <a:ext cx="822960" cy="82296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70916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09160" y="32004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insights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09160" y="384048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time HR sees patterns in rejection reasons or panel overload, the damage to candidate pipeline is done.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1645920"/>
            <a:ext cx="361188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blurRad="1524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8503920" y="2103120"/>
            <a:ext cx="822960" cy="82296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850392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503920" y="32004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tools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503920" y="384048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Sourcing, evaluation, offers, and pipeline health live in different dashboards — no unified intelligence layer.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specialised agents, one intelligence layer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72800" y="3657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agent owns one domain, runs in parallel, and is grounded in a Pinecone RAG knowledge base of hiring benchmarks.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210312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blurRad="1524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2103120" cy="118872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234440" y="228600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2344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31520" y="33832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channels are worth the spend?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98064" y="2011680"/>
            <a:ext cx="210312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blurRad="1524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2798064" y="2011680"/>
            <a:ext cx="2103120" cy="11887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3483864" y="228600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348386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980944" y="33832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980944" y="44805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candidates get filtered out?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47488" y="2011680"/>
            <a:ext cx="210312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blurRad="1524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5047488" y="2011680"/>
            <a:ext cx="2103120" cy="118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5733288" y="228600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7332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230368" y="33832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Load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30368" y="44805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interviewers are overloaded?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296912" y="2011680"/>
            <a:ext cx="210312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blurRad="1524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7296912" y="2011680"/>
            <a:ext cx="2103120" cy="1188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7982712" y="228600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798271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7479792" y="33832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479792" y="44805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candidates decline offers?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546336" y="2011680"/>
            <a:ext cx="210312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blurRad="1524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9546336" y="2011680"/>
            <a:ext cx="2103120" cy="11887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10232136" y="228600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10232136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9729216" y="33832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729216" y="44805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are SLAs at risk?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+ 3 supporting agents — Routing, Evaluation, Optimization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72800" y="3657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350602"/>
            <a:ext cx="2743200" cy="51626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0" y="128016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flows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657600" y="1828800"/>
            <a:ext cx="502920" cy="5029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36576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343400" y="178308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343400" y="207568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trigger or scheduled cron pulls 200 candidate rows from Google Sheets.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57600" y="2542032"/>
            <a:ext cx="502920" cy="5029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3657600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343400" y="249631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343400" y="278892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 19 CSV columns into structured candidate, interviewer, and role objects.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657600" y="3255264"/>
            <a:ext cx="502920" cy="5029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3657600" y="3255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343400" y="3209544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343400" y="3502152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Agent assigns gpt-4o (deep reasoning) or gpt-4o-mini (structured) per agent.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657600" y="3968496"/>
            <a:ext cx="502920" cy="5029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3657600" y="3968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343400" y="3922776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run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343400" y="4215384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specialised agents run simultaneously — Embed → RAG → Prompt → LLM → Parse.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657600" y="4681728"/>
            <a:ext cx="502920" cy="5029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3657600" y="4681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343400" y="4636008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4343400" y="4928616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→ Evaluation → Optimization → Final Output (with live pipeline stats).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3657600" y="5394960"/>
            <a:ext cx="502920" cy="5029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5"/>
          <p:cNvSpPr/>
          <p:nvPr/>
        </p:nvSpPr>
        <p:spPr>
          <a:xfrm>
            <a:off x="3657600" y="5394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4343400" y="534924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4343400" y="564184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Pushed to GitHub as JSON. Streamlit reads it on next refresh.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AGENT INTERNALS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agent does (UML sequence)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72800" y="3657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pic>
        <p:nvPicPr>
          <p:cNvPr id="5" name="Image 0" descr="/tmp/diagram2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9668" y="1234440"/>
            <a:ext cx="4321543" cy="5212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49440" y="12801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you're seeing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949440" y="16916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six steps repeat for each of the 5 agents. Solid arrows are calls. Dashed arrows are returns.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949440" y="2468880"/>
            <a:ext cx="411480" cy="4114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694944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498080" y="2468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Agent assigns a model to the specialised agent.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949440" y="3063240"/>
            <a:ext cx="411480" cy="4114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694944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498080" y="3063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embeds its query via OpenAI text-embedding-3-large.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949440" y="3657600"/>
            <a:ext cx="411480" cy="4114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694944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498080" y="36576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queries Pinecone for </a:t>
            </a: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top-4</a:t>
            </a: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matching benchmarks.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949440" y="4251960"/>
            <a:ext cx="411480" cy="4114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6949440" y="4251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498080" y="4251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assembles the full prompt and records start_time.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949440" y="4846320"/>
            <a:ext cx="411480" cy="4114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6949440" y="4846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498080" y="48463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sends prompt to OpenAI LLM (gpt-4o or gpt-4o-mini).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949440" y="5440680"/>
            <a:ext cx="411480" cy="4114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6949440" y="5440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498080" y="5440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parses JSON, computes real cost and latency.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CONTRACT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returns the same JSON shape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72800" y="3657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shared schema is what makes the system composable — evaluation, optimization, and the dashboard all read these fields.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943600" cy="4572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54864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"recommendation":     "One clear actionable sentence",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"evidence":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"key_insight":      "Supporting data summary",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"counts":           { ...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"confidence_score":   0.88,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"cost_of_insight":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"model":            "gpt-4o-mini",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"prompt_tokens":    1243,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"completion_tokens": 187,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"total_tokens":     1430,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"estimated_usd":    0.000298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"alternative":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"model":            "gpt-4o",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"trade_off":        "Higher accuracy but 10x cost"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"latency_ms":         2800,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"rag_grounded":       true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675120" y="1828800"/>
            <a:ext cx="49377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blurRad="1524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858000" y="19202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0" y="22128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headline output — one sentence the user acts 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75120" y="2743200"/>
            <a:ext cx="49377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blurRad="1524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858000" y="28346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0" y="31272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supporting data — counts, rates, key insight.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3657600"/>
            <a:ext cx="49377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blurRad="1524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858000" y="37490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confidence_score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0" y="40416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Agent's self-assessed confidence (0–1).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75120" y="4572000"/>
            <a:ext cx="49377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blurRad="1524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858000" y="46634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cost_of_insight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0" y="49560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token usage and USD cost from OpenAI.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75120" y="5486400"/>
            <a:ext cx="49377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blurRad="1524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6858000" y="55778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alternative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0" y="58704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 info: which other model could run this.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EVALUATION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insight is scored across 5 dimensions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72800" y="3657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64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blurRad="1524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777240" y="1618488"/>
            <a:ext cx="365760" cy="365760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280160" y="15087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Actionability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0" y="150876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&gt; 60 chars (specific enough to act on)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875520" y="1600200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9875520" y="16002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 or 1.0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331720"/>
            <a:ext cx="11064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blurRad="1524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777240" y="2578608"/>
            <a:ext cx="365760" cy="365760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280160" y="24688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114800" y="246888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context returned &gt; 50 chars from Pinecone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875520" y="2560320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9875520" y="25603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 or 1.0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291840"/>
            <a:ext cx="11064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blurRad="1524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777240" y="3538728"/>
            <a:ext cx="365760" cy="3657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1280160" y="34290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114800" y="342900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Agent's self-reported confidence ≥ 0.7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875520" y="3520440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9875520" y="35204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 or 1.0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251960"/>
            <a:ext cx="11064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blurRad="1524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777240" y="4498848"/>
            <a:ext cx="365760" cy="36576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1280160" y="43891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114800" y="43891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5 required fields present in returned JSON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875520" y="4480560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9875520" y="44805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 or 1.0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212080"/>
            <a:ext cx="11064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blurRad="1524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777240" y="5458968"/>
            <a:ext cx="365760" cy="36576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1280160" y="53492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Grounded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114800" y="53492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Pinecone returned relevant docs (length &gt; 50)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875520" y="5440680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9875520" y="5440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 or 1.0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score = mean of 5 dimensions. Healthy runs hit 1.0 across all agents.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— OPTIMIZATION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 via model downgrades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72800" y="3657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566160" cy="1463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524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run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280160"/>
            <a:ext cx="3566160" cy="14630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  <a:effectLst>
            <a:outerShdw blurRad="1524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29768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0" y="17830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$0.0401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297680" y="2423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run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280160"/>
            <a:ext cx="356616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  <a:effectLst>
            <a:outerShdw blurRad="1524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804672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46720" y="17830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/>
              <a:t>0.0049</a:t>
            </a:r>
          </a:p>
        </p:txBody>
      </p:sp>
      <p:sp>
        <p:nvSpPr>
          <p:cNvPr id="16" name="Text 14"/>
          <p:cNvSpPr/>
          <p:nvPr/>
        </p:nvSpPr>
        <p:spPr>
          <a:xfrm>
            <a:off x="8046720" y="2423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downgrades applied</a:t>
            </a:r>
            <a:endParaRPr lang="en-US" sz="12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548640" y="3108960"/>
          <a:ext cx="77724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Shape 15"/>
          <p:cNvSpPr/>
          <p:nvPr/>
        </p:nvSpPr>
        <p:spPr>
          <a:xfrm>
            <a:off x="8503920" y="3108960"/>
            <a:ext cx="31089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blurRad="1524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868680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risk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686800" y="3611880"/>
            <a:ext cx="2743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Rejection Pattern:</a:t>
            </a: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Low — structured data lends itself to gpt-4o-mini.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Insights:</a:t>
            </a: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Medium — multi-factor reasoning may suffer. Test for 2 weeks before committing.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</a:t>
            </a: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Run both on gpt-4o-mini for 2 weeks, measure eval score delta, then commit.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— OUTPUT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dashboard, zero local setup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72800" y="3657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685800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blurRad="1524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685800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685800" y="1399032"/>
            <a:ext cx="137160" cy="137160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914400" y="1399032"/>
            <a:ext cx="137160" cy="13716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143000" y="1399032"/>
            <a:ext cx="137160" cy="13716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920240" y="13533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DB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hiring-intelligence.streamlit.app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1828800"/>
            <a:ext cx="1207008" cy="1005840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289304" y="1965960"/>
            <a:ext cx="182880" cy="182880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777240" y="219456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77240" y="2606040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075688" y="1828800"/>
            <a:ext cx="1207008" cy="1005840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2587752" y="1965960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2075688" y="219456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075688" y="2606040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74136" y="1828800"/>
            <a:ext cx="1207008" cy="1005840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3886200" y="1965960"/>
            <a:ext cx="182880" cy="18288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3374136" y="219456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374136" y="2606040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72584" y="1828800"/>
            <a:ext cx="1207008" cy="1005840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5184648" y="1965960"/>
            <a:ext cx="182880" cy="182880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672584" y="219456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4672584" y="2606040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71032" y="1828800"/>
            <a:ext cx="1207008" cy="1005840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6483096" y="1965960"/>
            <a:ext cx="182880" cy="18288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5971032" y="219456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5971032" y="2606040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77240" y="2971800"/>
            <a:ext cx="6400800" cy="685800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914400" y="310896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914400" y="3108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Sourcing Quality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286000" y="309067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Referral by 30% — 41.2% offer rate vs 12.5% LinkedIn.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77240" y="3749040"/>
            <a:ext cx="6400800" cy="685800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914400" y="388620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914400" y="3886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Rejection Pattern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0" y="386791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26.3% of rejections are process failures, not candidate quality.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77240" y="4526280"/>
            <a:ext cx="6400800" cy="685800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914400" y="466344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914400" y="4663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Load Balancer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286000" y="464515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12 panels from Sam Rivera to Casey Kim and Morgan Chen.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77240" y="5303520"/>
            <a:ext cx="6400800" cy="685800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914400" y="544068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914400" y="5440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Insights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286000" y="542239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time-to-offer to under 5 days — 39% of declines are speed-related.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680960" y="1371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7680960" y="1783080"/>
            <a:ext cx="411480" cy="41148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768096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229600" y="1783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agent recommendations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229600" y="21122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confidence, model, cost, latency.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680960" y="2651760"/>
            <a:ext cx="411480" cy="41148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Text 51"/>
          <p:cNvSpPr/>
          <p:nvPr/>
        </p:nvSpPr>
        <p:spPr>
          <a:xfrm>
            <a:off x="7680960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229600" y="2651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pipeline metrics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8229600" y="298094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Funnel, channels, rejection breakdown.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680960" y="3520440"/>
            <a:ext cx="411480" cy="41148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Text 55"/>
          <p:cNvSpPr/>
          <p:nvPr/>
        </p:nvSpPr>
        <p:spPr>
          <a:xfrm>
            <a:off x="7680960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229600" y="3520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Interviewer load distribution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8229600" y="384962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overloaded panellists.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7680960" y="4389120"/>
            <a:ext cx="411480" cy="41148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Text 59"/>
          <p:cNvSpPr/>
          <p:nvPr/>
        </p:nvSpPr>
        <p:spPr>
          <a:xfrm>
            <a:off x="7680960" y="4389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229600" y="4389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radar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8229600" y="47183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score across 5 dimensions.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7680960" y="5257800"/>
            <a:ext cx="411480" cy="41148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Text 63"/>
          <p:cNvSpPr/>
          <p:nvPr/>
        </p:nvSpPr>
        <p:spPr>
          <a:xfrm>
            <a:off x="7680960" y="5257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229600" y="5257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latency tracking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8229600" y="558698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token usage from OpenAI.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— DECISIONS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picked these tools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72800" y="3657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64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blurRad="1524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777240" y="1536192"/>
            <a:ext cx="1645920" cy="548640"/>
          </a:xfrm>
          <a:prstGeom prst="roundRect">
            <a:avLst>
              <a:gd name="adj" fmla="val 833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777240" y="153619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606040" y="15087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orchestration with built-in retry, fan-out, and credential management — no Python sidecar.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064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blurRad="1524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777240" y="2496312"/>
            <a:ext cx="1645920" cy="548640"/>
          </a:xfrm>
          <a:prstGeom prst="roundRect">
            <a:avLst>
              <a:gd name="adj" fmla="val 8333"/>
            </a:avLst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777240" y="249631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06040" y="24688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free tier with REST API. ChromaDB or FAISS would need a hosted server.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11064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blurRad="1524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777240" y="3456432"/>
            <a:ext cx="1645920" cy="548640"/>
          </a:xfrm>
          <a:prstGeom prst="roundRect">
            <a:avLst>
              <a:gd name="adj" fmla="val 8333"/>
            </a:avLst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777240" y="345643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3-large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06040" y="34290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text-embedding-3-large (3072-dim) — short domain-specific docs benefit from higher quality.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251960"/>
            <a:ext cx="11064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blurRad="1524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777240" y="4416552"/>
            <a:ext cx="1645920" cy="548640"/>
          </a:xfrm>
          <a:prstGeom prst="roundRect">
            <a:avLst>
              <a:gd name="adj" fmla="val 8333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777240" y="441655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606040" y="43891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bridge between n8n and Streamlit. Avoids provisioning a database for JSON output.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212080"/>
            <a:ext cx="11064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blurRad="1524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777240" y="5376672"/>
            <a:ext cx="1645920" cy="548640"/>
          </a:xfrm>
          <a:prstGeom prst="roundRect">
            <a:avLst>
              <a:gd name="adj" fmla="val 8333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777240" y="537667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606040" y="53492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Cloud, deploys from GitHub in 2 minutes. No server config. Plotly charts work natively.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reflections in the documentation package — section 4.4.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5029200"/>
            <a:ext cx="3657600" cy="3657600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-457200" y="5943600"/>
            <a:ext cx="2286000" cy="2286000"/>
          </a:xfrm>
          <a:prstGeom prst="ellipse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Hiring Intelligence System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6217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0" y="6217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0" y="6217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Pinecone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6217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26480" y="6217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1073</Words>
  <Application>Microsoft Office PowerPoint</Application>
  <PresentationFormat>Widescreen</PresentationFormat>
  <Paragraphs>230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Hiring Intelligence System</dc:title>
  <dc:subject>CapStone Project</dc:subject>
  <dc:creator>Nalam, Viswa</dc:creator>
  <cp:revision>5</cp:revision>
  <dcterms:created xsi:type="dcterms:W3CDTF">2026-06-10T12:05:40Z</dcterms:created>
  <dcterms:modified xsi:type="dcterms:W3CDTF">2026-06-15T12:36:56Z</dcterms:modified>
</cp:coreProperties>
</file>